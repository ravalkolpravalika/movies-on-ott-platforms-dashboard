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eorgia" charset="1" panose="02040502050405020303"/>
      <p:regular r:id="rId14"/>
    </p:embeddedFon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999" y="1228595"/>
            <a:ext cx="7908899" cy="7829810"/>
          </a:xfrm>
          <a:custGeom>
            <a:avLst/>
            <a:gdLst/>
            <a:ahLst/>
            <a:cxnLst/>
            <a:rect r="r" b="b" t="t" l="l"/>
            <a:pathLst>
              <a:path h="7829810" w="7908899">
                <a:moveTo>
                  <a:pt x="0" y="0"/>
                </a:moveTo>
                <a:lnTo>
                  <a:pt x="7908899" y="0"/>
                </a:lnTo>
                <a:lnTo>
                  <a:pt x="7908899" y="7829810"/>
                </a:lnTo>
                <a:lnTo>
                  <a:pt x="0" y="7829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77373" y="3041773"/>
            <a:ext cx="7767627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Movies on OTT Platforms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77373" y="6460095"/>
            <a:ext cx="776762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ower BI Dashboard</a:t>
            </a:r>
          </a:p>
        </p:txBody>
      </p:sp>
      <p:sp>
        <p:nvSpPr>
          <p:cNvPr name="AutoShape 5" id="5"/>
          <p:cNvSpPr/>
          <p:nvPr/>
        </p:nvSpPr>
        <p:spPr>
          <a:xfrm>
            <a:off x="9256123" y="6119812"/>
            <a:ext cx="8384422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261187" y="9182100"/>
            <a:ext cx="502681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-Pravalika Ravalkol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2626834"/>
            <a:ext cx="18288000" cy="1532033"/>
          </a:xfrm>
          <a:prstGeom prst="rect">
            <a:avLst/>
          </a:prstGeom>
          <a:solidFill>
            <a:srgbClr val="66229D"/>
          </a:solidFill>
        </p:spPr>
      </p:sp>
      <p:sp>
        <p:nvSpPr>
          <p:cNvPr name="AutoShape 3" id="3"/>
          <p:cNvSpPr/>
          <p:nvPr/>
        </p:nvSpPr>
        <p:spPr>
          <a:xfrm rot="0">
            <a:off x="0" y="4158867"/>
            <a:ext cx="18288000" cy="1532033"/>
          </a:xfrm>
          <a:prstGeom prst="rect">
            <a:avLst/>
          </a:prstGeom>
          <a:solidFill>
            <a:srgbClr val="66229D"/>
          </a:solidFill>
        </p:spPr>
      </p:sp>
      <p:sp>
        <p:nvSpPr>
          <p:cNvPr name="AutoShape 4" id="4"/>
          <p:cNvSpPr/>
          <p:nvPr/>
        </p:nvSpPr>
        <p:spPr>
          <a:xfrm rot="0">
            <a:off x="0" y="5690901"/>
            <a:ext cx="18288000" cy="1532033"/>
          </a:xfrm>
          <a:prstGeom prst="rect">
            <a:avLst/>
          </a:prstGeom>
          <a:solidFill>
            <a:srgbClr val="66229D"/>
          </a:solidFill>
        </p:spPr>
      </p:sp>
      <p:sp>
        <p:nvSpPr>
          <p:cNvPr name="AutoShape 5" id="5"/>
          <p:cNvSpPr/>
          <p:nvPr/>
        </p:nvSpPr>
        <p:spPr>
          <a:xfrm rot="0">
            <a:off x="0" y="7222934"/>
            <a:ext cx="18288000" cy="1532033"/>
          </a:xfrm>
          <a:prstGeom prst="rect">
            <a:avLst/>
          </a:prstGeom>
          <a:solidFill>
            <a:srgbClr val="66229D"/>
          </a:solidFill>
        </p:spPr>
      </p:sp>
      <p:sp>
        <p:nvSpPr>
          <p:cNvPr name="AutoShape 6" id="6"/>
          <p:cNvSpPr/>
          <p:nvPr/>
        </p:nvSpPr>
        <p:spPr>
          <a:xfrm rot="0">
            <a:off x="0" y="8754967"/>
            <a:ext cx="18288000" cy="1532033"/>
          </a:xfrm>
          <a:prstGeom prst="rect">
            <a:avLst/>
          </a:prstGeom>
          <a:solidFill>
            <a:srgbClr val="66229D"/>
          </a:solid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892272"/>
            <a:ext cx="1001158" cy="1001158"/>
          </a:xfrm>
          <a:custGeom>
            <a:avLst/>
            <a:gdLst/>
            <a:ahLst/>
            <a:cxnLst/>
            <a:rect r="r" b="b" t="t" l="l"/>
            <a:pathLst>
              <a:path h="1001158" w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03106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19510" y="3148376"/>
            <a:ext cx="1149280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analyz</a:t>
            </a:r>
            <a:r>
              <a:rPr lang="en-US" sz="25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movies available across major OTT platforms.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0982" y="3135676"/>
            <a:ext cx="4765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b="true" sz="3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19510" y="4680409"/>
            <a:ext cx="1149280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compa</a:t>
            </a:r>
            <a:r>
              <a:rPr lang="en-US" sz="25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 IMDb and Rotten Tomatoes ratings.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8700" y="4424305"/>
            <a:ext cx="1001158" cy="1001158"/>
          </a:xfrm>
          <a:custGeom>
            <a:avLst/>
            <a:gdLst/>
            <a:ahLst/>
            <a:cxnLst/>
            <a:rect r="r" b="b" t="t" l="l"/>
            <a:pathLst>
              <a:path h="1001158" w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7739" y="4667709"/>
            <a:ext cx="4765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b="true" sz="3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19510" y="6212442"/>
            <a:ext cx="1149280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study gen</a:t>
            </a:r>
            <a:r>
              <a:rPr lang="en-US" sz="25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 distribution and audience age categories.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15456" y="5956338"/>
            <a:ext cx="1001158" cy="1001158"/>
          </a:xfrm>
          <a:custGeom>
            <a:avLst/>
            <a:gdLst/>
            <a:ahLst/>
            <a:cxnLst/>
            <a:rect r="r" b="b" t="t" l="l"/>
            <a:pathLst>
              <a:path h="1001158" w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7739" y="6199742"/>
            <a:ext cx="4765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b="true" sz="3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19510" y="7744475"/>
            <a:ext cx="1149280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identify wh</a:t>
            </a:r>
            <a:r>
              <a:rPr lang="en-US" sz="25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ich countries produce more movies.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28700" y="7488371"/>
            <a:ext cx="1001158" cy="1001158"/>
          </a:xfrm>
          <a:custGeom>
            <a:avLst/>
            <a:gdLst/>
            <a:ahLst/>
            <a:cxnLst/>
            <a:rect r="r" b="b" t="t" l="l"/>
            <a:pathLst>
              <a:path h="1001158" w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77739" y="7731775"/>
            <a:ext cx="4765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b="true" sz="3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19510" y="9276509"/>
            <a:ext cx="1149280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</a:t>
            </a:r>
            <a:r>
              <a:rPr lang="en-US" sz="25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identify releases by year.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28700" y="9020405"/>
            <a:ext cx="1001158" cy="1001158"/>
          </a:xfrm>
          <a:custGeom>
            <a:avLst/>
            <a:gdLst/>
            <a:ahLst/>
            <a:cxnLst/>
            <a:rect r="r" b="b" t="t" l="l"/>
            <a:pathLst>
              <a:path h="1001158" w="1001158">
                <a:moveTo>
                  <a:pt x="0" y="0"/>
                </a:moveTo>
                <a:lnTo>
                  <a:pt x="1001158" y="0"/>
                </a:lnTo>
                <a:lnTo>
                  <a:pt x="1001158" y="1001157"/>
                </a:lnTo>
                <a:lnTo>
                  <a:pt x="0" y="1001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77739" y="9263808"/>
            <a:ext cx="4765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b="true" sz="3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71490" y="1735867"/>
            <a:ext cx="1386281" cy="1386281"/>
          </a:xfrm>
          <a:custGeom>
            <a:avLst/>
            <a:gdLst/>
            <a:ahLst/>
            <a:cxnLst/>
            <a:rect r="r" b="b" t="t" l="l"/>
            <a:pathLst>
              <a:path h="1386281" w="1386281">
                <a:moveTo>
                  <a:pt x="0" y="0"/>
                </a:moveTo>
                <a:lnTo>
                  <a:pt x="1386281" y="0"/>
                </a:lnTo>
                <a:lnTo>
                  <a:pt x="1386281" y="1386281"/>
                </a:lnTo>
                <a:lnTo>
                  <a:pt x="0" y="1386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71490" y="4542987"/>
            <a:ext cx="1390554" cy="1390554"/>
          </a:xfrm>
          <a:custGeom>
            <a:avLst/>
            <a:gdLst/>
            <a:ahLst/>
            <a:cxnLst/>
            <a:rect r="r" b="b" t="t" l="l"/>
            <a:pathLst>
              <a:path h="1390554" w="1390554">
                <a:moveTo>
                  <a:pt x="0" y="0"/>
                </a:moveTo>
                <a:lnTo>
                  <a:pt x="1390553" y="0"/>
                </a:lnTo>
                <a:lnTo>
                  <a:pt x="1390553" y="1390554"/>
                </a:lnTo>
                <a:lnTo>
                  <a:pt x="0" y="1390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71490" y="7352766"/>
            <a:ext cx="1390554" cy="1487947"/>
          </a:xfrm>
          <a:custGeom>
            <a:avLst/>
            <a:gdLst/>
            <a:ahLst/>
            <a:cxnLst/>
            <a:rect r="r" b="b" t="t" l="l"/>
            <a:pathLst>
              <a:path h="1487947" w="1390554">
                <a:moveTo>
                  <a:pt x="0" y="0"/>
                </a:moveTo>
                <a:lnTo>
                  <a:pt x="1390553" y="0"/>
                </a:lnTo>
                <a:lnTo>
                  <a:pt x="1390553" y="1487946"/>
                </a:lnTo>
                <a:lnTo>
                  <a:pt x="0" y="14879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941445"/>
            <a:ext cx="5183725" cy="23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60"/>
              </a:lnSpc>
            </a:pPr>
            <a:r>
              <a:rPr lang="en-US" b="true" sz="7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0" y="1735867"/>
            <a:ext cx="8115300" cy="1129388"/>
            <a:chOff x="0" y="0"/>
            <a:chExt cx="10820400" cy="150585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10820400" cy="853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25"/>
                </a:lnSpc>
                <a:spcBef>
                  <a:spcPct val="0"/>
                </a:spcBef>
              </a:pPr>
              <a:r>
                <a:rPr lang="en-US" b="true" sz="4147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Source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76134"/>
              <a:ext cx="10820400" cy="529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08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Mov</a:t>
              </a:r>
              <a:r>
                <a:rPr lang="en-US" sz="2400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ies on OTT Platforms – Kaggle Dataset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4375527"/>
            <a:ext cx="8115300" cy="1558013"/>
            <a:chOff x="0" y="0"/>
            <a:chExt cx="10820400" cy="207735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10820400" cy="853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25"/>
                </a:lnSpc>
                <a:spcBef>
                  <a:spcPct val="0"/>
                </a:spcBef>
              </a:pPr>
              <a:r>
                <a:rPr lang="en-US" b="true" sz="4147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Total rows and columns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76134"/>
              <a:ext cx="10820400" cy="1101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8"/>
                </a:lnSpc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rows: 16744 </a:t>
              </a:r>
            </a:p>
            <a:p>
              <a:pPr algn="l" marL="0" indent="0" lvl="0">
                <a:lnSpc>
                  <a:spcPts val="3408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columns: 16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7013792"/>
            <a:ext cx="8115300" cy="2415263"/>
            <a:chOff x="0" y="0"/>
            <a:chExt cx="10820400" cy="322035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9050"/>
              <a:ext cx="10820400" cy="853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25"/>
                </a:lnSpc>
                <a:spcBef>
                  <a:spcPct val="0"/>
                </a:spcBef>
              </a:pPr>
              <a:r>
                <a:rPr lang="en-US" b="true" sz="4147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Key columns used: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76134"/>
              <a:ext cx="10820400" cy="2244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8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ID, Ti</a:t>
              </a:r>
              <a:r>
                <a:rPr lang="en-US" sz="2400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tle, Year, Age, IMDb, Rotten Tomatoes, Netflix, Hulu, Prime Video, Disney+ , Type, Directors, Genres, Country, Language, Runtime</a:t>
              </a:r>
            </a:p>
            <a:p>
              <a:pPr algn="l" marL="0" indent="0" lvl="0">
                <a:lnSpc>
                  <a:spcPts val="3408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3309" y="1965292"/>
            <a:ext cx="17721382" cy="7886015"/>
          </a:xfrm>
          <a:custGeom>
            <a:avLst/>
            <a:gdLst/>
            <a:ahLst/>
            <a:cxnLst/>
            <a:rect r="r" b="b" t="t" l="l"/>
            <a:pathLst>
              <a:path h="7886015" w="17721382">
                <a:moveTo>
                  <a:pt x="0" y="0"/>
                </a:moveTo>
                <a:lnTo>
                  <a:pt x="17721382" y="0"/>
                </a:lnTo>
                <a:lnTo>
                  <a:pt x="17721382" y="7886016"/>
                </a:lnTo>
                <a:lnTo>
                  <a:pt x="0" y="7886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3023" y="514350"/>
            <a:ext cx="1170988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</a:pPr>
            <a:r>
              <a:rPr lang="en-US" b="true" sz="6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40883" y="150533"/>
            <a:ext cx="18006234" cy="9985933"/>
          </a:xfrm>
          <a:prstGeom prst="rect">
            <a:avLst/>
          </a:prstGeom>
          <a:solidFill>
            <a:srgbClr val="813CB8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124200" y="840265"/>
            <a:ext cx="12039600" cy="111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06"/>
              </a:lnSpc>
              <a:spcBef>
                <a:spcPct val="0"/>
              </a:spcBef>
            </a:pPr>
            <a:r>
              <a:rPr lang="en-US" b="true" sz="657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Cleaning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49910" y="2721110"/>
            <a:ext cx="9694870" cy="105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Check</a:t>
            </a: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ed data formats for all columns to ensure consistency.</a:t>
            </a:r>
          </a:p>
          <a:p>
            <a:pPr algn="l">
              <a:lnSpc>
                <a:spcPts val="2810"/>
              </a:lnSpc>
            </a:pPr>
          </a:p>
          <a:p>
            <a:pPr algn="l" marL="0" indent="0" lvl="0">
              <a:lnSpc>
                <a:spcPts val="281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349910" y="3686211"/>
            <a:ext cx="10100451" cy="70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0"/>
              </a:lnSpc>
            </a:pP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Dele</a:t>
            </a: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ted the Type column as it had only a single value (0).</a:t>
            </a:r>
          </a:p>
          <a:p>
            <a:pPr algn="l" marL="0" indent="0" lvl="0">
              <a:lnSpc>
                <a:spcPts val="281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349910" y="4685268"/>
            <a:ext cx="8578417" cy="70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0"/>
              </a:lnSpc>
            </a:pP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Replac</a:t>
            </a: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ed blank cells in the Age column with “All”.</a:t>
            </a:r>
          </a:p>
          <a:p>
            <a:pPr algn="l" marL="0" indent="0" lvl="0">
              <a:lnSpc>
                <a:spcPts val="281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349910" y="5746224"/>
            <a:ext cx="13090369" cy="105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0"/>
              </a:lnSpc>
            </a:pP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</a:t>
            </a: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rged all OTT platform columns (Netflix, Hulu, Prime Video, Disney+) into one Platform column using an IF-ELSE logic.</a:t>
            </a:r>
          </a:p>
          <a:p>
            <a:pPr algn="l" marL="0" indent="0" lvl="0">
              <a:lnSpc>
                <a:spcPts val="2810"/>
              </a:lnSpc>
            </a:pPr>
          </a:p>
        </p:txBody>
      </p:sp>
      <p:sp>
        <p:nvSpPr>
          <p:cNvPr name="AutoShape 8" id="8"/>
          <p:cNvSpPr/>
          <p:nvPr/>
        </p:nvSpPr>
        <p:spPr>
          <a:xfrm>
            <a:off x="1922689" y="-3356919"/>
            <a:ext cx="0" cy="14570399"/>
          </a:xfrm>
          <a:prstGeom prst="line">
            <a:avLst/>
          </a:prstGeom>
          <a:ln cap="rnd" w="19050">
            <a:solidFill>
              <a:srgbClr val="4B008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785387" y="3781454"/>
            <a:ext cx="293654" cy="293654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B008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5387" y="2730635"/>
            <a:ext cx="293654" cy="293654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B008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85387" y="4770993"/>
            <a:ext cx="293654" cy="293654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B008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75862" y="5826647"/>
            <a:ext cx="293654" cy="293654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B008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85387" y="7001870"/>
            <a:ext cx="293654" cy="293654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B008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349910" y="6943402"/>
            <a:ext cx="13090369" cy="3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0"/>
              </a:lnSpc>
            </a:pP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</a:t>
            </a: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lled blank IMDB ratings with the average rating.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49910" y="7850170"/>
            <a:ext cx="13090369" cy="3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0"/>
              </a:lnSpc>
            </a:pP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Rep</a:t>
            </a:r>
            <a:r>
              <a:rPr lang="en-US" sz="22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laced blank Country values with “Unknown”.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785387" y="7908637"/>
            <a:ext cx="293654" cy="293654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B0082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1552" y="514350"/>
            <a:ext cx="17264895" cy="9258300"/>
          </a:xfrm>
          <a:custGeom>
            <a:avLst/>
            <a:gdLst/>
            <a:ahLst/>
            <a:cxnLst/>
            <a:rect r="r" b="b" t="t" l="l"/>
            <a:pathLst>
              <a:path h="9258300" w="17264895">
                <a:moveTo>
                  <a:pt x="0" y="0"/>
                </a:moveTo>
                <a:lnTo>
                  <a:pt x="17264896" y="0"/>
                </a:lnTo>
                <a:lnTo>
                  <a:pt x="17264896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10699" y="2192684"/>
            <a:ext cx="8022194" cy="118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b="true" sz="8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10699" y="4719291"/>
            <a:ext cx="13866603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</a:t>
            </a: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 movies are for “All” age groups.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Prime Video </a:t>
            </a: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has the largest movie collection (~71.73%).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genres with the highest number of movies are </a:t>
            </a: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Dramas, Documentaries, and Comedy.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Average IMDb rating: 5.9 | Average Rotten Tomatoes: 64%.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Movie releases increased sharply after 2000.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United States produces the highest number of movies.</a:t>
            </a:r>
          </a:p>
        </p:txBody>
      </p:sp>
      <p:sp>
        <p:nvSpPr>
          <p:cNvPr name="AutoShape 4" id="4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69159" y="4386263"/>
            <a:ext cx="12781952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9"/>
              </a:lnSpc>
            </a:pPr>
            <a:r>
              <a:rPr lang="en-US" b="true" sz="9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998460"/>
            <a:ext cx="9052148" cy="125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Pravalika Ravalkol</a:t>
            </a:r>
          </a:p>
          <a:p>
            <a:pPr algn="l" marL="0" indent="0" lvl="0">
              <a:lnSpc>
                <a:spcPts val="5200"/>
              </a:lnSpc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pravalikagoudr@gmail.com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19574" y="3266052"/>
            <a:ext cx="7188914" cy="8764322"/>
            <a:chOff x="0" y="0"/>
            <a:chExt cx="9585219" cy="11685763"/>
          </a:xfrm>
        </p:grpSpPr>
        <p:grpSp>
          <p:nvGrpSpPr>
            <p:cNvPr name="Group 5" id="5"/>
            <p:cNvGrpSpPr/>
            <p:nvPr/>
          </p:nvGrpSpPr>
          <p:grpSpPr>
            <a:xfrm rot="-2700000">
              <a:off x="-562750" y="7790982"/>
              <a:ext cx="7429400" cy="1485661"/>
              <a:chOff x="0" y="0"/>
              <a:chExt cx="31900754" cy="637921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1900754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31900754">
                    <a:moveTo>
                      <a:pt x="25204906" y="0"/>
                    </a:moveTo>
                    <a:lnTo>
                      <a:pt x="8024961" y="0"/>
                    </a:lnTo>
                    <a:lnTo>
                      <a:pt x="6736517" y="7620"/>
                    </a:lnTo>
                    <a:lnTo>
                      <a:pt x="0" y="6379210"/>
                    </a:lnTo>
                    <a:lnTo>
                      <a:pt x="25254845" y="6379210"/>
                    </a:lnTo>
                    <a:lnTo>
                      <a:pt x="31900754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-2700000">
              <a:off x="3734095" y="6248668"/>
              <a:ext cx="6125442" cy="1485661"/>
              <a:chOff x="0" y="0"/>
              <a:chExt cx="26301750" cy="637921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6301750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2630175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-2700000">
              <a:off x="3831566" y="1948101"/>
              <a:ext cx="6125442" cy="1485661"/>
              <a:chOff x="0" y="0"/>
              <a:chExt cx="26301750" cy="637921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6301750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2630175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419483" y="-280143"/>
            <a:ext cx="3954450" cy="3914905"/>
          </a:xfrm>
          <a:custGeom>
            <a:avLst/>
            <a:gdLst/>
            <a:ahLst/>
            <a:cxnLst/>
            <a:rect r="r" b="b" t="t" l="l"/>
            <a:pathLst>
              <a:path h="3914905" w="3954450">
                <a:moveTo>
                  <a:pt x="0" y="0"/>
                </a:moveTo>
                <a:lnTo>
                  <a:pt x="3954450" y="0"/>
                </a:lnTo>
                <a:lnTo>
                  <a:pt x="3954450" y="3914905"/>
                </a:lnTo>
                <a:lnTo>
                  <a:pt x="0" y="3914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DAG2zwuGWWk</dc:identifier>
  <dcterms:modified xsi:type="dcterms:W3CDTF">2011-08-01T06:04:30Z</dcterms:modified>
  <cp:revision>1</cp:revision>
  <dc:title>Movies on OTT Platforms</dc:title>
</cp:coreProperties>
</file>